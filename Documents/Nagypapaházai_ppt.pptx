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59" r:id="rId11"/>
    <p:sldId id="258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0B162-3F70-4AF7-A62E-D6525ABC879C}" v="2219" dt="2026-04-17T19:01:28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717095"/>
            <a:ext cx="9144000" cy="1123795"/>
          </a:xfrm>
        </p:spPr>
        <p:txBody>
          <a:bodyPr/>
          <a:lstStyle/>
          <a:p>
            <a:r>
              <a:rPr lang="hu-HU"/>
              <a:t>Nagypapa Házai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Készítette: </a:t>
            </a:r>
            <a:endParaRPr lang="hu-HU" sz="1200" dirty="0">
              <a:solidFill>
                <a:srgbClr val="F0F6FC"/>
              </a:solidFill>
              <a:highlight>
                <a:srgbClr val="0D1117"/>
              </a:highlight>
            </a:endParaRPr>
          </a:p>
          <a:p>
            <a:r>
              <a:rPr lang="hu-HU"/>
              <a:t>Bota Csongor, Kania Áron Nontawat, </a:t>
            </a:r>
            <a:r>
              <a:rPr lang="hu-HU" dirty="0">
                <a:ea typeface="+mn-lt"/>
                <a:cs typeface="+mn-lt"/>
              </a:rPr>
              <a:t>Batsukh Temuujin</a:t>
            </a:r>
            <a:endParaRPr lang="hu-HU" sz="12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  <p:pic>
        <p:nvPicPr>
          <p:cNvPr id="4" name="Kép 3" descr="Intézmény logo">
            <a:extLst>
              <a:ext uri="{FF2B5EF4-FFF2-40B4-BE49-F238E27FC236}">
                <a16:creationId xmlns:a16="http://schemas.microsoft.com/office/drawing/2014/main" id="{B0773CA7-702E-5247-3C46-DA514B4E5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FA0976C0-5D1F-7044-35AA-207BCC4D28CB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872FAE04-C171-BB5A-3192-14FF5BE9C17F}"/>
              </a:ext>
            </a:extLst>
          </p:cNvPr>
          <p:cNvSpPr/>
          <p:nvPr/>
        </p:nvSpPr>
        <p:spPr>
          <a:xfrm>
            <a:off x="2624666" y="1708046"/>
            <a:ext cx="6259138" cy="172611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800">
                <a:solidFill>
                  <a:schemeClr val="tx1"/>
                </a:solidFill>
              </a:rPr>
              <a:t>Nagypapa Házai</a:t>
            </a:r>
          </a:p>
        </p:txBody>
      </p:sp>
      <p:pic>
        <p:nvPicPr>
          <p:cNvPr id="7" name="Ábra 6" descr="Ház egyszínű kitöltéssel">
            <a:extLst>
              <a:ext uri="{FF2B5EF4-FFF2-40B4-BE49-F238E27FC236}">
                <a16:creationId xmlns:a16="http://schemas.microsoft.com/office/drawing/2014/main" id="{D28530D1-FABC-EF1F-B932-FFD28B169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7263" y="2163336"/>
            <a:ext cx="830766" cy="830766"/>
          </a:xfrm>
          <a:prstGeom prst="rect">
            <a:avLst/>
          </a:prstGeom>
        </p:spPr>
      </p:pic>
      <p:pic>
        <p:nvPicPr>
          <p:cNvPr id="8" name="Ábra 7" descr="Ház egyszínű kitöltéssel">
            <a:extLst>
              <a:ext uri="{FF2B5EF4-FFF2-40B4-BE49-F238E27FC236}">
                <a16:creationId xmlns:a16="http://schemas.microsoft.com/office/drawing/2014/main" id="{438B0A75-5516-5025-018A-4EB8F3C37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1969" y="2163336"/>
            <a:ext cx="830766" cy="83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72D5BC-42F8-2067-15BE-544BEF4FF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34" y="1158875"/>
            <a:ext cx="10536766" cy="50180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b="1"/>
              <a:t>Témaválasztás oka: </a:t>
            </a:r>
          </a:p>
          <a:p>
            <a:pPr marL="285750" indent="-285750"/>
            <a:r>
              <a:rPr lang="hu-HU" sz="1800" b="1">
                <a:ea typeface="+mn-lt"/>
                <a:cs typeface="+mn-lt"/>
              </a:rPr>
              <a:t>Nagyszámú kihasználatlan vidéki ingatlan található Magyarországon,</a:t>
            </a:r>
            <a:r>
              <a:rPr lang="hu-HU" sz="1800">
                <a:ea typeface="+mn-lt"/>
                <a:cs typeface="+mn-lt"/>
              </a:rPr>
              <a:t> amelyek fenntartása komoly költséget jelent a tulajdonosoknak</a:t>
            </a:r>
            <a:endParaRPr lang="hu-HU" sz="1800"/>
          </a:p>
          <a:p>
            <a:pPr marL="285750" indent="-285750"/>
            <a:r>
              <a:rPr lang="hu-HU" sz="1800">
                <a:ea typeface="+mn-lt"/>
                <a:cs typeface="+mn-lt"/>
              </a:rPr>
              <a:t>Személyes felismerés, hogy a három fejlesztő kereskedelmi szemlélettel működnek – egy nonprofit, cserelogikán alapuló alternatíva hiánypótló szerepet tölthet be.</a:t>
            </a:r>
          </a:p>
          <a:p>
            <a:pPr marL="0" indent="0">
              <a:buNone/>
            </a:pPr>
            <a:endParaRPr lang="hu-HU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hu-HU" sz="1800" dirty="0">
              <a:latin typeface="Aptos"/>
              <a:cs typeface="Angsana New"/>
            </a:endParaRPr>
          </a:p>
          <a:p>
            <a:pPr marL="0" indent="0">
              <a:buNone/>
            </a:pPr>
            <a:r>
              <a:rPr lang="hu-HU" b="1">
                <a:latin typeface="Aptos"/>
                <a:cs typeface="Angsana New"/>
              </a:rPr>
              <a:t>Megoldás:</a:t>
            </a:r>
            <a:endParaRPr lang="hu-HU" b="1" dirty="0">
              <a:latin typeface="Aptos"/>
              <a:cs typeface="Angsana New"/>
            </a:endParaRPr>
          </a:p>
          <a:p>
            <a:pPr marL="285750" indent="-285750"/>
            <a:r>
              <a:rPr lang="hu-HU" sz="1800">
                <a:ea typeface="+mn-lt"/>
                <a:cs typeface="+mn-lt"/>
              </a:rPr>
              <a:t>Egy olyan digitális platform létrehozása, amely segíti a kihasználatlan vidéki ingatlanok tulajdonosait az ingatlanjaik közösségi megosztásában</a:t>
            </a:r>
            <a:endParaRPr lang="hu-HU" sz="1800">
              <a:ea typeface="+mn-lt"/>
              <a:cs typeface="Angsana New"/>
            </a:endParaRPr>
          </a:p>
          <a:p>
            <a:pPr marL="285750" indent="-285750"/>
            <a:r>
              <a:rPr lang="hu-HU" sz="1800">
                <a:ea typeface="+mn-lt"/>
                <a:cs typeface="+mn-lt"/>
              </a:rPr>
              <a:t>Felhasználóbarát, csereajánlat-alapú foglalási rendszer bevezetése, amely átlátható ütközésvizsgálatot, ezzel egyszerűsítve a tulajdonosok és bérlők közötti egyeztetést.</a:t>
            </a:r>
            <a:endParaRPr lang="hu-HU" sz="1800">
              <a:latin typeface="Aptos"/>
              <a:cs typeface="Angsana New"/>
            </a:endParaRPr>
          </a:p>
        </p:txBody>
      </p:sp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37EC47EC-FDD5-D3BD-F2A4-A7588FA4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2823A72D-03CA-9895-7075-78642CC4ADF1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E08AE00-AABA-0B70-52C6-129DC35E9A48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</p:spTree>
    <p:extLst>
      <p:ext uri="{BB962C8B-B14F-4D97-AF65-F5344CB8AC3E}">
        <p14:creationId xmlns:p14="http://schemas.microsoft.com/office/powerpoint/2010/main" val="275576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57A1-4CF3-F2A2-3E87-D0444A818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73984F17-5F28-C86E-E8F6-8C36720ED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9C15139A-4AFD-5AFA-34A2-44E66F9B234F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95DB7ED2-B920-9322-00E1-254891FDC903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A7AF0418-F6F2-3593-5F9C-805A7D7DD6D1}"/>
              </a:ext>
            </a:extLst>
          </p:cNvPr>
          <p:cNvSpPr/>
          <p:nvPr/>
        </p:nvSpPr>
        <p:spPr>
          <a:xfrm>
            <a:off x="3630082" y="1023197"/>
            <a:ext cx="4931834" cy="118533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>
                <a:solidFill>
                  <a:schemeClr val="tx1"/>
                </a:solidFill>
              </a:rPr>
              <a:t>Program Funkciók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AF0E729-4184-4991-39CC-6DF216942013}"/>
              </a:ext>
            </a:extLst>
          </p:cNvPr>
          <p:cNvSpPr txBox="1"/>
          <p:nvPr/>
        </p:nvSpPr>
        <p:spPr>
          <a:xfrm>
            <a:off x="3048000" y="3143250"/>
            <a:ext cx="305011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/>
              <a:t>Adminok számára:</a:t>
            </a:r>
            <a:endParaRPr lang="hu-HU" b="1" dirty="0"/>
          </a:p>
          <a:p>
            <a:pPr marL="285750" indent="-285750">
              <a:buFont typeface="Arial"/>
              <a:buChar char="•"/>
            </a:pPr>
            <a:r>
              <a:rPr lang="hu-HU" b="1">
                <a:latin typeface="Calibri"/>
                <a:ea typeface="Calibri"/>
                <a:cs typeface="Calibri"/>
              </a:rPr>
              <a:t>Regisztráció </a:t>
            </a:r>
          </a:p>
          <a:p>
            <a:pPr marL="285750" indent="-285750">
              <a:buFont typeface="Arial"/>
              <a:buChar char="•"/>
            </a:pPr>
            <a:r>
              <a:rPr lang="hu-HU" b="1">
                <a:latin typeface="Calibri"/>
                <a:ea typeface="Calibri"/>
                <a:cs typeface="Calibri"/>
              </a:rPr>
              <a:t>Bejelntkezés</a:t>
            </a:r>
          </a:p>
          <a:p>
            <a:pPr marL="285750" indent="-285750">
              <a:buFont typeface="Arial"/>
              <a:buChar char="•"/>
            </a:pPr>
            <a:r>
              <a:rPr lang="hu-HU" b="1">
                <a:latin typeface="Calibri"/>
                <a:ea typeface="Calibri"/>
                <a:cs typeface="Calibri"/>
              </a:rPr>
              <a:t>Felhasználok törlése</a:t>
            </a:r>
            <a:endParaRPr lang="hu-HU" b="1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b="1" dirty="0">
                <a:latin typeface="Calibri"/>
                <a:ea typeface="Calibri"/>
                <a:cs typeface="Calibri"/>
              </a:rPr>
              <a:t>Események </a:t>
            </a:r>
            <a:r>
              <a:rPr lang="hu-HU">
                <a:latin typeface="Calibri"/>
                <a:ea typeface="Calibri"/>
                <a:cs typeface="Calibri"/>
              </a:rPr>
              <a:t>szerkeztése/hozzáadása</a:t>
            </a:r>
          </a:p>
          <a:p>
            <a:pPr marL="285750" indent="-285750">
              <a:buFont typeface="Arial"/>
              <a:buChar char="•"/>
            </a:pPr>
            <a:r>
              <a:rPr lang="hu-HU" b="1">
                <a:latin typeface="Calibri"/>
                <a:ea typeface="Calibri"/>
                <a:cs typeface="Calibri"/>
              </a:rPr>
              <a:t>Admin panel hozzáférés</a:t>
            </a:r>
            <a:endParaRPr lang="hu-HU" b="1" dirty="0">
              <a:latin typeface="Calibri"/>
              <a:ea typeface="Calibri"/>
              <a:cs typeface="Calibri"/>
            </a:endParaRPr>
          </a:p>
          <a:p>
            <a:endParaRPr lang="hu-HU" dirty="0"/>
          </a:p>
          <a:p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67FEBB5-95B9-149F-9C58-30BD89C8C413}"/>
              </a:ext>
            </a:extLst>
          </p:cNvPr>
          <p:cNvSpPr txBox="1"/>
          <p:nvPr/>
        </p:nvSpPr>
        <p:spPr>
          <a:xfrm>
            <a:off x="6805083" y="3143249"/>
            <a:ext cx="289136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/>
              <a:t>Felhasználók számára:</a:t>
            </a:r>
            <a:endParaRPr lang="hu-HU" b="1" dirty="0"/>
          </a:p>
          <a:p>
            <a:pPr marL="285750" indent="-285750">
              <a:buFont typeface="Arial"/>
              <a:buChar char="•"/>
            </a:pPr>
            <a:r>
              <a:rPr lang="hu-HU" b="1">
                <a:latin typeface="Calibri"/>
                <a:ea typeface="Calibri"/>
                <a:cs typeface="Calibri"/>
              </a:rPr>
              <a:t>Regisztráció </a:t>
            </a:r>
            <a:endParaRPr lang="en-US" b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b="1">
                <a:latin typeface="Calibri"/>
                <a:ea typeface="Calibri"/>
                <a:cs typeface="Calibri"/>
              </a:rPr>
              <a:t>Bejelntkezés</a:t>
            </a:r>
            <a:endParaRPr lang="hu-HU" b="1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b="1" dirty="0">
                <a:latin typeface="Calibri"/>
                <a:ea typeface="Calibri"/>
                <a:cs typeface="Calibri"/>
              </a:rPr>
              <a:t>Események </a:t>
            </a:r>
            <a:r>
              <a:rPr lang="hu-HU">
                <a:latin typeface="Calibri"/>
                <a:ea typeface="Calibri"/>
                <a:cs typeface="Calibri"/>
              </a:rPr>
              <a:t>böngészése/részvétele</a:t>
            </a:r>
          </a:p>
          <a:p>
            <a:pPr marL="285750" indent="-285750">
              <a:buFont typeface="Arial"/>
              <a:buChar char="•"/>
            </a:pPr>
            <a:r>
              <a:rPr lang="hu-HU" b="1">
                <a:latin typeface="Calibri"/>
                <a:ea typeface="Calibri"/>
                <a:cs typeface="Calibri"/>
              </a:rPr>
              <a:t>Házak böngészése</a:t>
            </a:r>
          </a:p>
          <a:p>
            <a:pPr marL="285750" indent="-285750">
              <a:buFont typeface="Arial"/>
              <a:buChar char="•"/>
            </a:pPr>
            <a:r>
              <a:rPr lang="hu-HU" b="1">
                <a:latin typeface="Calibri"/>
                <a:ea typeface="Calibri"/>
                <a:cs typeface="Calibri"/>
              </a:rPr>
              <a:t>Új foglalás létrehozása</a:t>
            </a:r>
            <a:endParaRPr lang="hu-HU" b="1" dirty="0">
              <a:latin typeface="Calibri"/>
              <a:ea typeface="Calibri"/>
              <a:cs typeface="Calibri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9131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FDAE-114F-369B-95CC-9131D65B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78E68C29-639C-3238-79F9-A558237E3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C7712FE3-9F10-0C8F-27C0-3A7B10F314E7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2C86CD9-F7F7-37A6-53BD-0D5B7125FB19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4CAFF1C3-6A75-29FB-62EE-08E522E2BD14}"/>
              </a:ext>
            </a:extLst>
          </p:cNvPr>
          <p:cNvSpPr txBox="1"/>
          <p:nvPr/>
        </p:nvSpPr>
        <p:spPr>
          <a:xfrm>
            <a:off x="814917" y="4476750"/>
            <a:ext cx="482811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Calibri"/>
                <a:ea typeface="Calibri"/>
                <a:cs typeface="Calibri"/>
              </a:rPr>
              <a:t>Backend Környezet:</a:t>
            </a:r>
          </a:p>
          <a:p>
            <a:pPr marL="342900" indent="-342900">
              <a:buFont typeface="Arial"/>
              <a:buChar char="•"/>
            </a:pPr>
            <a:r>
              <a:rPr lang="hu-HU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Fejlesztői eszköz: </a:t>
            </a:r>
            <a:r>
              <a:rPr lang="hu-H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Visual Studio 2022</a:t>
            </a:r>
          </a:p>
          <a:p>
            <a:pPr marL="342900" indent="-342900">
              <a:buFont typeface="Arial"/>
              <a:buChar char="•"/>
            </a:pPr>
            <a:r>
              <a:rPr lang="hu-HU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Technológia: </a:t>
            </a:r>
            <a:r>
              <a:rPr lang="hu-HU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ASP.NET Core Web API – .NET 8 keretrendszerrel</a:t>
            </a:r>
            <a:endParaRPr lang="hu-HU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hu-HU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05D50ACD-C047-C53F-381C-A49B049A723F}"/>
              </a:ext>
            </a:extLst>
          </p:cNvPr>
          <p:cNvSpPr txBox="1"/>
          <p:nvPr/>
        </p:nvSpPr>
        <p:spPr>
          <a:xfrm>
            <a:off x="6339416" y="4476749"/>
            <a:ext cx="482811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Calibri"/>
                <a:ea typeface="Calibri"/>
                <a:cs typeface="Calibri"/>
              </a:rPr>
              <a:t>Frontend Környezet:</a:t>
            </a:r>
          </a:p>
          <a:p>
            <a:pPr marL="342900" indent="-342900">
              <a:buFont typeface="Arial"/>
              <a:buChar char="•"/>
            </a:pPr>
            <a:r>
              <a:rPr lang="hu-HU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Fejlesztői eszköz: </a:t>
            </a:r>
            <a:r>
              <a:rPr lang="hu-H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Visual Studio 2022</a:t>
            </a:r>
          </a:p>
          <a:p>
            <a:pPr marL="342900" indent="-342900">
              <a:buFont typeface="Arial"/>
              <a:buChar char="•"/>
            </a:pPr>
            <a:r>
              <a:rPr lang="hu-HU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Technológia: </a:t>
            </a:r>
            <a:r>
              <a:rPr lang="hu-H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Blazor WebAssembly 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15F80B23-BFE6-C7E2-9CF2-132ADB99359E}"/>
              </a:ext>
            </a:extLst>
          </p:cNvPr>
          <p:cNvSpPr txBox="1"/>
          <p:nvPr/>
        </p:nvSpPr>
        <p:spPr>
          <a:xfrm>
            <a:off x="3630082" y="2995082"/>
            <a:ext cx="7145864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Calibri"/>
                <a:ea typeface="Calibri"/>
                <a:cs typeface="Calibri"/>
              </a:rPr>
              <a:t>Adatbázis MSSQL Környezet:</a:t>
            </a:r>
          </a:p>
          <a:p>
            <a:pPr marL="342900" indent="-342900">
              <a:buFont typeface="Arial"/>
              <a:buChar char="•"/>
            </a:pPr>
            <a:r>
              <a:rPr lang="hu-HU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Adatbázis kezelő: </a:t>
            </a:r>
            <a:r>
              <a:rPr lang="hu-H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Microsoft SQL Server (SQLEXPRESS)</a:t>
            </a:r>
          </a:p>
          <a:p>
            <a:pPr marL="342900" indent="-342900">
              <a:buFont typeface="Arial"/>
              <a:buChar char="•"/>
            </a:pPr>
            <a:r>
              <a:rPr lang="hu-HU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Lekérdező nyelv:</a:t>
            </a:r>
            <a:r>
              <a:rPr lang="hu-H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MSSQL</a:t>
            </a:r>
          </a:p>
          <a:p>
            <a:pPr marL="342900" indent="-342900">
              <a:buFont typeface="Arial"/>
              <a:buChar char="•"/>
            </a:pPr>
            <a:r>
              <a:rPr lang="hu-HU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Használt keretrendszer:</a:t>
            </a:r>
            <a:r>
              <a:rPr lang="hu-H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Entity Framework - Core</a:t>
            </a:r>
            <a:r>
              <a:rPr lang="hu-HU">
                <a:solidFill>
                  <a:srgbClr val="000000"/>
                </a:solidFill>
                <a:ea typeface="+mn-lt"/>
                <a:cs typeface="+mn-lt"/>
              </a:rPr>
              <a:t>Code-First migrációk</a:t>
            </a:r>
            <a:endParaRPr lang="hu-HU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072BF2FA-8CB2-85A8-95FA-F766FF74495B}"/>
              </a:ext>
            </a:extLst>
          </p:cNvPr>
          <p:cNvSpPr/>
          <p:nvPr/>
        </p:nvSpPr>
        <p:spPr>
          <a:xfrm>
            <a:off x="3630082" y="870797"/>
            <a:ext cx="4931834" cy="118533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Program</a:t>
            </a:r>
            <a:endParaRPr lang="hu-HU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4284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B9707-866C-E07F-CD8D-8571EDFB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D41D7BB0-17ED-0F6D-2C2E-C49666A0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C925F9AB-675E-9C7A-7EBC-2AAEFB9BED81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103446C6-4113-3B9D-CEC9-F7B63488AF58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 Bota Csongor</a:t>
            </a:r>
            <a:r>
              <a:rPr lang="hu-HU" sz="1000" b="1">
                <a:ea typeface="+mn-lt"/>
                <a:cs typeface="+mn-lt"/>
              </a:rPr>
              <a:t> Batsukh Temuujin</a:t>
            </a:r>
            <a:endParaRPr lang="hu-HU" sz="1000" b="1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1DFCE748-485A-4BBF-5CFF-CD13E907FCD2}"/>
              </a:ext>
            </a:extLst>
          </p:cNvPr>
          <p:cNvSpPr/>
          <p:nvPr/>
        </p:nvSpPr>
        <p:spPr>
          <a:xfrm>
            <a:off x="3630082" y="825500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Backend</a:t>
            </a:r>
            <a:endParaRPr lang="hu-HU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4EC39D3E-3BED-3D07-E67D-D84020CFA0E7}"/>
              </a:ext>
            </a:extLst>
          </p:cNvPr>
          <p:cNvSpPr txBox="1"/>
          <p:nvPr/>
        </p:nvSpPr>
        <p:spPr>
          <a:xfrm>
            <a:off x="624416" y="2338915"/>
            <a:ext cx="437091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>
                <a:latin typeface="Calibri"/>
                <a:ea typeface="Calibri"/>
                <a:cs typeface="Calibri"/>
              </a:rPr>
              <a:t>ASP.NET Core Blazor Server – .NET 8 </a:t>
            </a:r>
          </a:p>
          <a:p>
            <a:r>
              <a:rPr lang="hu-HU" b="1">
                <a:latin typeface="Calibri"/>
                <a:ea typeface="Calibri"/>
                <a:cs typeface="Calibri"/>
              </a:rPr>
              <a:t>    Session-alapú hitelesítés</a:t>
            </a:r>
          </a:p>
          <a:p>
            <a:r>
              <a:rPr lang="hu-HU" b="1">
                <a:latin typeface="Calibri"/>
                <a:ea typeface="Calibri"/>
                <a:cs typeface="Calibri"/>
              </a:rPr>
              <a:t>    AuthState service (User / Admin)</a:t>
            </a:r>
          </a:p>
          <a:p>
            <a:r>
              <a:rPr lang="hu-HU" b="1">
                <a:latin typeface="Calibri"/>
                <a:ea typeface="Calibri"/>
                <a:cs typeface="Calibri"/>
              </a:rPr>
              <a:t>    BCrypt jelszóhas</a:t>
            </a:r>
            <a:endParaRPr lang="hu-HU" b="1" dirty="0">
              <a:latin typeface="Calibri"/>
              <a:ea typeface="Calibri"/>
              <a:cs typeface="Calibri"/>
            </a:endParaRPr>
          </a:p>
          <a:p>
            <a:r>
              <a:rPr lang="hu-HU" b="1" dirty="0">
                <a:latin typeface="Calibri"/>
                <a:ea typeface="Calibri"/>
                <a:cs typeface="Calibri"/>
              </a:rPr>
              <a:t>    NagypapaHazai.API – REST API </a:t>
            </a:r>
            <a:r>
              <a:rPr lang="hu-HU" b="1">
                <a:latin typeface="Calibri"/>
                <a:ea typeface="Calibri"/>
                <a:cs typeface="Calibri"/>
              </a:rPr>
              <a:t>projekt</a:t>
            </a:r>
          </a:p>
          <a:p>
            <a:pPr algn="l"/>
            <a:endParaRPr lang="hu-HU" dirty="0"/>
          </a:p>
        </p:txBody>
      </p:sp>
      <p:pic>
        <p:nvPicPr>
          <p:cNvPr id="10" name="Kép 9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47C5BA18-1B0E-84E6-58F1-9B50B4C13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240" y="-31750"/>
            <a:ext cx="2748104" cy="6551083"/>
          </a:xfrm>
          <a:prstGeom prst="rect">
            <a:avLst/>
          </a:prstGeom>
        </p:spPr>
      </p:pic>
      <p:pic>
        <p:nvPicPr>
          <p:cNvPr id="13" name="Kép 12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8DA121E1-C439-7F06-0B39-CAC73AEE1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228850"/>
            <a:ext cx="3390900" cy="3733800"/>
          </a:xfrm>
          <a:prstGeom prst="rect">
            <a:avLst/>
          </a:prstGeom>
        </p:spPr>
      </p:pic>
      <p:pic>
        <p:nvPicPr>
          <p:cNvPr id="14" name="Kép 13" descr="Announcing .NET 8 - .NET Blog">
            <a:extLst>
              <a:ext uri="{FF2B5EF4-FFF2-40B4-BE49-F238E27FC236}">
                <a16:creationId xmlns:a16="http://schemas.microsoft.com/office/drawing/2014/main" id="{B1CD3803-F943-B23C-5C89-E3ADFA681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117" y="5772680"/>
            <a:ext cx="810684" cy="741892"/>
          </a:xfrm>
          <a:prstGeom prst="rect">
            <a:avLst/>
          </a:prstGeom>
        </p:spPr>
      </p:pic>
      <p:pic>
        <p:nvPicPr>
          <p:cNvPr id="15" name="Kép 14" descr="BCryptNet - Overview (O11) | OutSystems">
            <a:extLst>
              <a:ext uri="{FF2B5EF4-FFF2-40B4-BE49-F238E27FC236}">
                <a16:creationId xmlns:a16="http://schemas.microsoft.com/office/drawing/2014/main" id="{A0FC7D39-4DCC-D471-ECAD-5A9B784F0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457" y="5762626"/>
            <a:ext cx="709084" cy="75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43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A2A32-6F7F-C611-B41E-078F6487D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0B00C511-BC97-86D8-28DA-8037A311F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52F3DDFE-BB6F-8824-EA8B-623EFD547C3B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22B60C3-578E-A15A-80D9-8D8BE61B1A94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A4A4D2B8-3933-8CD1-9F48-5DC0CEFD6A31}"/>
              </a:ext>
            </a:extLst>
          </p:cNvPr>
          <p:cNvSpPr/>
          <p:nvPr/>
        </p:nvSpPr>
        <p:spPr>
          <a:xfrm>
            <a:off x="3630082" y="825500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Models</a:t>
            </a:r>
            <a:endParaRPr lang="hu-HU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027E943-5FB7-5F18-7855-F3302CEEE0BA}"/>
              </a:ext>
            </a:extLst>
          </p:cNvPr>
          <p:cNvSpPr txBox="1"/>
          <p:nvPr/>
        </p:nvSpPr>
        <p:spPr>
          <a:xfrm>
            <a:off x="1915583" y="2264833"/>
            <a:ext cx="51329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b="1" i="1"/>
              <a:t>Backend és frontend összekapcsolása</a:t>
            </a:r>
          </a:p>
          <a:p>
            <a:pPr marL="285750" indent="-285750">
              <a:buFont typeface="Arial"/>
              <a:buChar char="•"/>
            </a:pPr>
            <a:r>
              <a:rPr lang="hu-HU" b="1" i="1"/>
              <a:t>Táblák leképzése</a:t>
            </a:r>
            <a:endParaRPr lang="hu-HU" b="1" dirty="0"/>
          </a:p>
        </p:txBody>
      </p:sp>
      <p:pic>
        <p:nvPicPr>
          <p:cNvPr id="8" name="Kép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9236D30F-9DFD-6372-4814-388B41FEE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3314700"/>
            <a:ext cx="4737100" cy="2927350"/>
          </a:xfrm>
          <a:prstGeom prst="rect">
            <a:avLst/>
          </a:prstGeom>
        </p:spPr>
      </p:pic>
      <p:pic>
        <p:nvPicPr>
          <p:cNvPr id="10" name="Kép 9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E79E4274-6082-44EA-1BCD-075A790D4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13" y="3314700"/>
            <a:ext cx="63531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6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D748-3BAC-005D-BFD2-2C317A918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AB5748D0-4844-E059-CC29-C43ED32F2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9AE3C66E-90E7-2C60-291A-6BE8C37BEB87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46A5EAF-C700-4F73-A4C1-6952394983F6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15EFA5BA-00D1-CC74-C8BF-5035F0A2A367}"/>
              </a:ext>
            </a:extLst>
          </p:cNvPr>
          <p:cNvSpPr/>
          <p:nvPr/>
        </p:nvSpPr>
        <p:spPr>
          <a:xfrm>
            <a:off x="3630082" y="825500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Controllers</a:t>
            </a:r>
            <a:endParaRPr lang="hu-HU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A6BEC81-4726-F343-991B-6A87F600351B}"/>
              </a:ext>
            </a:extLst>
          </p:cNvPr>
          <p:cNvSpPr txBox="1"/>
          <p:nvPr/>
        </p:nvSpPr>
        <p:spPr>
          <a:xfrm>
            <a:off x="1693333" y="2529416"/>
            <a:ext cx="49868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/>
              <a:t>HTTP metódusok </a:t>
            </a:r>
            <a:r>
              <a:rPr lang="hu-HU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(GET, POST,PUT, DELETE)</a:t>
            </a:r>
            <a:endParaRPr lang="hu-HU">
              <a:latin typeface="Calibri"/>
              <a:ea typeface="Calibri"/>
              <a:cs typeface="Calibri"/>
            </a:endParaRPr>
          </a:p>
        </p:txBody>
      </p:sp>
      <p:pic>
        <p:nvPicPr>
          <p:cNvPr id="8" name="Kép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3579766-C228-1DC4-0BDA-49FC3721F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8" y="3033713"/>
            <a:ext cx="4962525" cy="1171575"/>
          </a:xfrm>
          <a:prstGeom prst="rect">
            <a:avLst/>
          </a:prstGeom>
        </p:spPr>
      </p:pic>
      <p:pic>
        <p:nvPicPr>
          <p:cNvPr id="10" name="Kép 9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5B17FDFB-2113-3881-76AB-C09C07310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325" y="1018646"/>
            <a:ext cx="4133850" cy="3381375"/>
          </a:xfrm>
          <a:prstGeom prst="rect">
            <a:avLst/>
          </a:prstGeom>
        </p:spPr>
      </p:pic>
      <p:pic>
        <p:nvPicPr>
          <p:cNvPr id="12" name="Kép 11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BCEFA7EC-110B-9E20-2772-EAF7F0AEF5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921" y="4299479"/>
            <a:ext cx="450532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4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05FCD-B203-0C14-BA2B-BC9ECBCA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65A5CF92-1514-2D9B-A3F2-791DC1DF8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F4E6816C-51DC-4E4A-58C2-B356EF41AA89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3133B06-C2AD-68D1-BEF4-9DBAECFB5440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152912A7-D4C5-50E6-6FFF-D2530CABCCAD}"/>
              </a:ext>
            </a:extLst>
          </p:cNvPr>
          <p:cNvSpPr/>
          <p:nvPr/>
        </p:nvSpPr>
        <p:spPr>
          <a:xfrm>
            <a:off x="3630082" y="825500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Frontend</a:t>
            </a:r>
            <a:endParaRPr lang="hu-HU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66C2787-31F1-1015-30ED-DE001DE6DBFF}"/>
              </a:ext>
            </a:extLst>
          </p:cNvPr>
          <p:cNvSpPr txBox="1"/>
          <p:nvPr/>
        </p:nvSpPr>
        <p:spPr>
          <a:xfrm>
            <a:off x="814916" y="2296583"/>
            <a:ext cx="4529666" cy="28469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,Sans-Serif"/>
              <a:buChar char="•"/>
            </a:pPr>
            <a:r>
              <a:rPr lang="hu-HU"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Visual Studio Code</a:t>
            </a:r>
            <a:endParaRPr lang="hu-HU" sz="1700"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,Sans-Serif"/>
              <a:buChar char="•"/>
            </a:pPr>
            <a:r>
              <a:rPr lang="hu-HU"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Blazor WebAssembly</a:t>
            </a:r>
            <a:endParaRPr lang="en-US" sz="1700"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,Sans-Serif"/>
              <a:buChar char="•"/>
            </a:pPr>
            <a:r>
              <a:rPr lang="hu-HU" sz="1700" b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Programozási nyelvek:</a:t>
            </a:r>
            <a:endParaRPr lang="hu-HU" sz="1700">
              <a:latin typeface="Calibri"/>
              <a:ea typeface="Calibri"/>
              <a:cs typeface="Calibri"/>
            </a:endParaRPr>
          </a:p>
          <a:p>
            <a:pPr marL="742950" lvl="1" indent="-285750">
              <a:spcBef>
                <a:spcPts val="1000"/>
              </a:spcBef>
              <a:buFont typeface="Arial,Sans-Serif"/>
              <a:buChar char="•"/>
            </a:pPr>
            <a:r>
              <a:rPr lang="hu-HU" sz="15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C# – komponensek és üzleti logika</a:t>
            </a:r>
          </a:p>
          <a:p>
            <a:pPr marL="742950" lvl="1" indent="-285750">
              <a:spcBef>
                <a:spcPts val="1000"/>
              </a:spcBef>
              <a:buFont typeface="Arial,Sans-Serif"/>
              <a:buChar char="•"/>
            </a:pPr>
            <a:r>
              <a:rPr lang="hu-HU" sz="1500">
                <a:solidFill>
                  <a:srgbClr val="262626"/>
                </a:solidFill>
                <a:ea typeface="+mn-lt"/>
                <a:cs typeface="+mn-lt"/>
              </a:rPr>
              <a:t>Razor</a:t>
            </a:r>
            <a:r>
              <a:rPr lang="hu-HU" sz="1500" dirty="0">
                <a:solidFill>
                  <a:srgbClr val="262626"/>
                </a:solidFill>
                <a:latin typeface="Aptos"/>
                <a:ea typeface="Calibri"/>
                <a:cs typeface="Calibri"/>
              </a:rPr>
              <a:t> </a:t>
            </a:r>
            <a:r>
              <a:rPr lang="hu-HU" sz="15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– </a:t>
            </a:r>
            <a:r>
              <a:rPr lang="hu-HU" sz="1500">
                <a:solidFill>
                  <a:srgbClr val="262626"/>
                </a:solidFill>
                <a:ea typeface="+mn-lt"/>
                <a:cs typeface="+mn-lt"/>
              </a:rPr>
              <a:t>HTML + C# keverék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742950" lvl="1" indent="-285750">
              <a:spcBef>
                <a:spcPts val="1000"/>
              </a:spcBef>
              <a:buFont typeface="Arial,Sans-Serif"/>
              <a:buChar char="•"/>
            </a:pPr>
            <a:r>
              <a:rPr lang="hu-HU" sz="1500">
                <a:solidFill>
                  <a:srgbClr val="262626"/>
                </a:solidFill>
                <a:ea typeface="+mn-lt"/>
                <a:cs typeface="+mn-lt"/>
              </a:rPr>
              <a:t>Bootstrap 5 + TAILWIND – reszponzív dizájn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742950" lvl="1" indent="-285750">
              <a:spcBef>
                <a:spcPts val="1000"/>
              </a:spcBef>
              <a:buFont typeface="Arial,Sans-Serif"/>
              <a:buChar char="•"/>
            </a:pPr>
            <a:r>
              <a:rPr lang="hu-HU" sz="1500">
                <a:solidFill>
                  <a:srgbClr val="262626"/>
                </a:solidFill>
                <a:ea typeface="+mn-lt"/>
                <a:cs typeface="+mn-lt"/>
              </a:rPr>
              <a:t>CSS – egyéni stílusok</a:t>
            </a:r>
            <a:endParaRPr lang="hu-HU" sz="1500" dirty="0">
              <a:solidFill>
                <a:srgbClr val="262626"/>
              </a:solidFill>
              <a:latin typeface="Aptos"/>
              <a:ea typeface="Calibri"/>
              <a:cs typeface="Calibri"/>
            </a:endParaRPr>
          </a:p>
          <a:p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70CE689E-5F66-16FB-3017-D0F035918962}"/>
              </a:ext>
            </a:extLst>
          </p:cNvPr>
          <p:cNvSpPr txBox="1"/>
          <p:nvPr/>
        </p:nvSpPr>
        <p:spPr>
          <a:xfrm>
            <a:off x="6011333" y="2296584"/>
            <a:ext cx="36618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>
                <a:ea typeface="+mn-lt"/>
                <a:cs typeface="+mn-lt"/>
              </a:rPr>
              <a:t>Főbb oldalak / komponensek:</a:t>
            </a:r>
            <a:endParaRPr lang="hu-HU"/>
          </a:p>
        </p:txBody>
      </p:sp>
      <p:pic>
        <p:nvPicPr>
          <p:cNvPr id="10" name="Kép 9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49595303-EC63-D0DB-5131-14063505B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21" y="2671763"/>
            <a:ext cx="3241675" cy="3546475"/>
          </a:xfrm>
          <a:prstGeom prst="rect">
            <a:avLst/>
          </a:prstGeom>
        </p:spPr>
      </p:pic>
      <p:pic>
        <p:nvPicPr>
          <p:cNvPr id="12" name="Kép 11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F514AC45-9195-4F18-816F-2BA7620F3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992" y="1473730"/>
            <a:ext cx="2228850" cy="1095375"/>
          </a:xfrm>
          <a:prstGeom prst="rect">
            <a:avLst/>
          </a:prstGeom>
        </p:spPr>
      </p:pic>
      <p:pic>
        <p:nvPicPr>
          <p:cNvPr id="13" name="Kép 12" descr="A képen szöveg, Betűtípus, képernyőkép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D76B912F-7325-12CF-A189-AC219F74F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417" y="2579688"/>
            <a:ext cx="2286000" cy="809625"/>
          </a:xfrm>
          <a:prstGeom prst="rect">
            <a:avLst/>
          </a:prstGeom>
        </p:spPr>
      </p:pic>
      <p:pic>
        <p:nvPicPr>
          <p:cNvPr id="14" name="Kép 13" descr="✨ From Basic Styling to Utility-First Brilliance: My Shift to Tailwind CSS">
            <a:extLst>
              <a:ext uri="{FF2B5EF4-FFF2-40B4-BE49-F238E27FC236}">
                <a16:creationId xmlns:a16="http://schemas.microsoft.com/office/drawing/2014/main" id="{52ACF8B4-03A5-3B85-96CA-296EC5A82D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3696" y="3871912"/>
            <a:ext cx="1459442" cy="1273175"/>
          </a:xfrm>
          <a:prstGeom prst="rect">
            <a:avLst/>
          </a:prstGeom>
        </p:spPr>
      </p:pic>
      <p:pic>
        <p:nvPicPr>
          <p:cNvPr id="15" name="Ábra 14" descr="Bootstrap (front-end framework) - Wikipedia">
            <a:extLst>
              <a:ext uri="{FF2B5EF4-FFF2-40B4-BE49-F238E27FC236}">
                <a16:creationId xmlns:a16="http://schemas.microsoft.com/office/drawing/2014/main" id="{A83ABF98-016E-9080-C43F-4BB59CAC7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97067" y="7672"/>
            <a:ext cx="1663699" cy="130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3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9D380-C878-BD55-FC13-7E9F4D18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82BDCEF1-144C-0069-BE6C-2C14CF9C5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4768CE79-7C43-BF90-C021-0F5B3122AB41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17BD8BEC-444D-4317-6EE5-3F6BF2C74186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AD5C2ED5-1874-D2F7-F774-46BA6EB36AFE}"/>
              </a:ext>
            </a:extLst>
          </p:cNvPr>
          <p:cNvSpPr/>
          <p:nvPr/>
        </p:nvSpPr>
        <p:spPr>
          <a:xfrm>
            <a:off x="3630082" y="825500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Adatbázis</a:t>
            </a:r>
            <a:endParaRPr lang="hu-HU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C73D73B-E158-546A-BD55-D695FD5D0AB6}"/>
              </a:ext>
            </a:extLst>
          </p:cNvPr>
          <p:cNvSpPr txBox="1"/>
          <p:nvPr/>
        </p:nvSpPr>
        <p:spPr>
          <a:xfrm>
            <a:off x="0" y="2995083"/>
            <a:ext cx="506941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b="1" i="1">
                <a:ea typeface="+mn-lt"/>
                <a:cs typeface="+mn-lt"/>
              </a:rPr>
              <a:t>MSSQL (SQL Server Express)</a:t>
            </a:r>
            <a:endParaRPr lang="hu-HU" b="1" i="1"/>
          </a:p>
          <a:p>
            <a:pPr marL="285750" indent="-285750">
              <a:buFont typeface="Arial"/>
              <a:buChar char="•"/>
            </a:pPr>
            <a:r>
              <a:rPr lang="hu-HU" b="1" i="1">
                <a:ea typeface="+mn-lt"/>
                <a:cs typeface="+mn-lt"/>
              </a:rPr>
              <a:t>    Code-First" megközelítés</a:t>
            </a:r>
            <a:endParaRPr lang="hu-HU" b="1" i="1"/>
          </a:p>
          <a:p>
            <a:pPr marL="285750" indent="-285750">
              <a:buFont typeface="Arial"/>
              <a:buChar char="•"/>
            </a:pPr>
            <a:r>
              <a:rPr lang="hu-HU" b="1" i="1">
                <a:ea typeface="+mn-lt"/>
                <a:cs typeface="+mn-lt"/>
              </a:rPr>
              <a:t>    Entity Framework Core 8</a:t>
            </a:r>
            <a:endParaRPr lang="hu-HU" b="1" i="1"/>
          </a:p>
          <a:p>
            <a:pPr marL="285750" indent="-285750">
              <a:buFont typeface="Arial"/>
              <a:buChar char="•"/>
            </a:pPr>
            <a:r>
              <a:rPr lang="hu-HU" b="1" i="1">
                <a:ea typeface="+mn-lt"/>
                <a:cs typeface="+mn-lt"/>
              </a:rPr>
              <a:t>    5 tábla (+ 2 az API projektben)</a:t>
            </a:r>
            <a:endParaRPr lang="hu-HU" b="1" i="1"/>
          </a:p>
          <a:p>
            <a:pPr marL="285750" indent="-285750">
              <a:buFont typeface="Arial"/>
              <a:buChar char="•"/>
            </a:pPr>
            <a:r>
              <a:rPr lang="hu-HU" b="1" i="1">
                <a:ea typeface="+mn-lt"/>
                <a:cs typeface="+mn-lt"/>
              </a:rPr>
              <a:t>    Migrációk: Init1, AddEventRegistrations</a:t>
            </a:r>
          </a:p>
          <a:p>
            <a:endParaRPr lang="hu-HU" dirty="0"/>
          </a:p>
        </p:txBody>
      </p:sp>
      <p:pic>
        <p:nvPicPr>
          <p:cNvPr id="8" name="Kép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AF132C94-611C-27FB-EA89-A2FC0D653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713" y="3063875"/>
            <a:ext cx="3648075" cy="1238250"/>
          </a:xfrm>
          <a:prstGeom prst="rect">
            <a:avLst/>
          </a:prstGeom>
        </p:spPr>
      </p:pic>
      <p:pic>
        <p:nvPicPr>
          <p:cNvPr id="10" name="Kép 9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29714CD6-A081-A19C-75B0-A47845E72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4" y="4300538"/>
            <a:ext cx="3629025" cy="1304925"/>
          </a:xfrm>
          <a:prstGeom prst="rect">
            <a:avLst/>
          </a:prstGeom>
        </p:spPr>
      </p:pic>
      <p:pic>
        <p:nvPicPr>
          <p:cNvPr id="12" name="Kép 11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9ABA5675-77EA-C229-AB48-4FAA8F3B8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896" y="2255838"/>
            <a:ext cx="3190875" cy="3743325"/>
          </a:xfrm>
          <a:prstGeom prst="rect">
            <a:avLst/>
          </a:prstGeom>
        </p:spPr>
      </p:pic>
      <p:pic>
        <p:nvPicPr>
          <p:cNvPr id="13" name="Kép 12" descr="Developing Microsoft SQL 2016 Database - KEOK">
            <a:extLst>
              <a:ext uri="{FF2B5EF4-FFF2-40B4-BE49-F238E27FC236}">
                <a16:creationId xmlns:a16="http://schemas.microsoft.com/office/drawing/2014/main" id="{CEB5558A-DB29-0C3E-B121-6BB0A9D46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147" y="1315508"/>
            <a:ext cx="1476375" cy="1200150"/>
          </a:xfrm>
          <a:prstGeom prst="rect">
            <a:avLst/>
          </a:prstGeom>
        </p:spPr>
      </p:pic>
      <p:pic>
        <p:nvPicPr>
          <p:cNvPr id="14" name="Ábra 13" descr="FluentMigrator">
            <a:extLst>
              <a:ext uri="{FF2B5EF4-FFF2-40B4-BE49-F238E27FC236}">
                <a16:creationId xmlns:a16="http://schemas.microsoft.com/office/drawing/2014/main" id="{DD8773AD-7642-89C2-160B-3A082267C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39817" y="1983315"/>
            <a:ext cx="1060451" cy="107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9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9FC9F-D9C1-33C0-BA62-B2203A96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0C572288-46AF-F11C-BA43-96BCCA910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3144460C-32A0-37DD-4379-D9323BE0E6AA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E8199A2F-A696-4B41-8240-4F0A9F3E449A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786F9907-CC58-A13C-0B24-F1E8F0A8D573}"/>
              </a:ext>
            </a:extLst>
          </p:cNvPr>
          <p:cNvSpPr/>
          <p:nvPr/>
        </p:nvSpPr>
        <p:spPr>
          <a:xfrm>
            <a:off x="2001281" y="1432363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Reszponzivitás</a:t>
            </a:r>
            <a:endParaRPr lang="hu-HU" sz="3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Kép 1" descr="A képen tervezés, illusztráció, művészet látható&#10;&#10;Lehet, hogy az AI által létrehozott tartalom helytelen.">
            <a:extLst>
              <a:ext uri="{FF2B5EF4-FFF2-40B4-BE49-F238E27FC236}">
                <a16:creationId xmlns:a16="http://schemas.microsoft.com/office/drawing/2014/main" id="{D3862ADF-636D-126F-44DC-D7077DDA9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529" y="1433745"/>
            <a:ext cx="5079845" cy="3377194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6ECE6964-1107-E510-D9BE-B7D97E2FC6CA}"/>
              </a:ext>
            </a:extLst>
          </p:cNvPr>
          <p:cNvSpPr txBox="1"/>
          <p:nvPr/>
        </p:nvSpPr>
        <p:spPr>
          <a:xfrm>
            <a:off x="1321625" y="3757083"/>
            <a:ext cx="53553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b="1"/>
              <a:t>Mobil eszközökre/számitogépre optimalizálva</a:t>
            </a:r>
          </a:p>
        </p:txBody>
      </p:sp>
    </p:spTree>
    <p:extLst>
      <p:ext uri="{BB962C8B-B14F-4D97-AF65-F5344CB8AC3E}">
        <p14:creationId xmlns:p14="http://schemas.microsoft.com/office/powerpoint/2010/main" val="1598666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4D443-1E76-09E8-DDD2-39FBD185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DA5EACC3-566C-EAD6-1C9E-83758F409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DF2373AE-BB7A-DDED-4638-71AD1A532F80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84AA964-2B5E-FA1C-E626-663666339DB8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A9B9732C-088C-72A9-7725-EF03F7514A51}"/>
              </a:ext>
            </a:extLst>
          </p:cNvPr>
          <p:cNvSpPr/>
          <p:nvPr/>
        </p:nvSpPr>
        <p:spPr>
          <a:xfrm>
            <a:off x="3535864" y="924363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2800" cap="all">
                <a:solidFill>
                  <a:srgbClr val="262626"/>
                </a:solidFill>
                <a:latin typeface="Gill Sans MT"/>
                <a:ea typeface="Calibri"/>
                <a:cs typeface="Calibri"/>
              </a:rPr>
              <a:t>Csapatmunka</a:t>
            </a:r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F92439A-D678-1456-780E-A060CB1B57CF}"/>
              </a:ext>
            </a:extLst>
          </p:cNvPr>
          <p:cNvSpPr txBox="1"/>
          <p:nvPr/>
        </p:nvSpPr>
        <p:spPr>
          <a:xfrm>
            <a:off x="1164166" y="2539999"/>
            <a:ext cx="4931833" cy="2395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GitHub - </a:t>
            </a:r>
            <a:r>
              <a:rPr lang="hu-HU">
                <a:ea typeface="+mn-lt"/>
                <a:cs typeface="+mn-lt"/>
              </a:rPr>
              <a:t>verziókezelés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Discord </a:t>
            </a:r>
            <a:r>
              <a:rPr lang="hu-HU">
                <a:ea typeface="+mn-lt"/>
                <a:cs typeface="+mn-lt"/>
              </a:rPr>
              <a:t>– kommunikáció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Full stack fejlesztés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Feladatok szerint osztva, nem fájlok szerint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Időkorlát nélküli munkamegosztás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Tiszta kód</a:t>
            </a:r>
          </a:p>
        </p:txBody>
      </p:sp>
      <p:pic>
        <p:nvPicPr>
          <p:cNvPr id="8" name="Kép 7" descr="A képen fekete, sötétség látható&#10;&#10;Lehet, hogy az AI által létrehozott tartalom helytelen.">
            <a:extLst>
              <a:ext uri="{FF2B5EF4-FFF2-40B4-BE49-F238E27FC236}">
                <a16:creationId xmlns:a16="http://schemas.microsoft.com/office/drawing/2014/main" id="{ED0EAC2E-6A37-F021-5B2B-CBBA14961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810000"/>
            <a:ext cx="3048000" cy="3048000"/>
          </a:xfrm>
          <a:prstGeom prst="rect">
            <a:avLst/>
          </a:prstGeom>
        </p:spPr>
      </p:pic>
      <p:pic>
        <p:nvPicPr>
          <p:cNvPr id="10" name="Kép 9" descr="Discord Icon PNGs for Free Download">
            <a:extLst>
              <a:ext uri="{FF2B5EF4-FFF2-40B4-BE49-F238E27FC236}">
                <a16:creationId xmlns:a16="http://schemas.microsoft.com/office/drawing/2014/main" id="{487E418E-E2BD-8888-3CF3-47DC6AF97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167" y="180975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6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2342-D405-AE3D-79EA-28E70814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32DE4E92-83F4-AC93-7842-40BBED6C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E50CECA4-8464-DAB8-25A2-8A789F9F4BC1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B04848E-400F-9DB1-0E1F-544E2E256E67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0E7E4324-85A5-0E10-377E-8307777BF97A}"/>
              </a:ext>
            </a:extLst>
          </p:cNvPr>
          <p:cNvSpPr/>
          <p:nvPr/>
        </p:nvSpPr>
        <p:spPr>
          <a:xfrm>
            <a:off x="3535864" y="924363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2800" cap="all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Munkamegosztás </a:t>
            </a:r>
            <a:endParaRPr lang="hu-HU" sz="2800" cap="all" dirty="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2CC91CF0-2992-E868-5DA0-4F3411934D06}"/>
              </a:ext>
            </a:extLst>
          </p:cNvPr>
          <p:cNvSpPr txBox="1"/>
          <p:nvPr/>
        </p:nvSpPr>
        <p:spPr>
          <a:xfrm>
            <a:off x="1238249" y="2645833"/>
            <a:ext cx="474133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 i="1">
                <a:ea typeface="+mn-lt"/>
                <a:cs typeface="+mn-lt"/>
              </a:rPr>
              <a:t>Kania Áron Nontawat:</a:t>
            </a:r>
            <a:endParaRPr lang="hu-HU" b="1" i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ea typeface="+mn-lt"/>
                <a:cs typeface="+mn-lt"/>
              </a:rPr>
              <a:t>Blazor UI fejlesztés</a:t>
            </a:r>
            <a:endParaRPr lang="hu-HU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hu-HU" dirty="0">
                <a:ea typeface="+mn-lt"/>
                <a:cs typeface="+mn-lt"/>
              </a:rPr>
              <a:t> Admin </a:t>
            </a:r>
            <a:r>
              <a:rPr lang="hu-HU">
                <a:ea typeface="+mn-lt"/>
                <a:cs typeface="+mn-lt"/>
              </a:rPr>
              <a:t>felület </a:t>
            </a:r>
            <a:endParaRPr lang="hu-HU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ea typeface="+mn-lt"/>
                <a:cs typeface="+mn-lt"/>
              </a:rPr>
              <a:t> Csereajánlat </a:t>
            </a:r>
            <a:endParaRPr lang="hu-HU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hu-HU" dirty="0">
                <a:ea typeface="+mn-lt"/>
                <a:cs typeface="+mn-lt"/>
              </a:rPr>
              <a:t>Eseménykezelő modul </a:t>
            </a:r>
          </a:p>
          <a:p>
            <a:pPr marL="285750" indent="-285750">
              <a:buFont typeface="Arial"/>
              <a:buChar char="•"/>
            </a:pPr>
            <a:r>
              <a:rPr lang="hu-HU">
                <a:ea typeface="+mn-lt"/>
                <a:cs typeface="+mn-lt"/>
              </a:rPr>
              <a:t>Tesztelés és bugfixing</a:t>
            </a:r>
            <a:endParaRPr lang="hu-HU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ea typeface="+mn-lt"/>
                <a:cs typeface="+mn-lt"/>
              </a:rPr>
              <a:t>Git </a:t>
            </a:r>
          </a:p>
          <a:p>
            <a:pPr marL="285750" indent="-285750">
              <a:buFont typeface="Arial"/>
              <a:buChar char="•"/>
            </a:pPr>
            <a:r>
              <a:rPr lang="hu-HU">
                <a:ea typeface="+mn-lt"/>
                <a:cs typeface="+mn-lt"/>
              </a:rPr>
              <a:t>konfigurációk </a:t>
            </a:r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63859B4-471F-24A1-2E05-E000E840AAE6}"/>
              </a:ext>
            </a:extLst>
          </p:cNvPr>
          <p:cNvSpPr txBox="1"/>
          <p:nvPr/>
        </p:nvSpPr>
        <p:spPr>
          <a:xfrm>
            <a:off x="4370917" y="2645834"/>
            <a:ext cx="415925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 i="1">
                <a:latin typeface="Calibri"/>
                <a:ea typeface="Calibri"/>
                <a:cs typeface="Calibri"/>
              </a:rPr>
              <a:t>Bota Csongor:</a:t>
            </a: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Adatmodell és adatbázis</a:t>
            </a:r>
            <a:endParaRPr lang="hu-HU" b="1" i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 Balor UI fejlesztés</a:t>
            </a:r>
            <a:endParaRPr lang="hu-HU" b="1" i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Foglalás rendszer</a:t>
            </a:r>
            <a:endParaRPr lang="hu-HU" b="1" i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Csereajánlat</a:t>
            </a:r>
            <a:endParaRPr lang="hu-HU" b="1" i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Eseménykezelő modul</a:t>
            </a:r>
            <a:endParaRPr lang="hu-HU" b="1" i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Git </a:t>
            </a:r>
            <a:endParaRPr lang="hu-HU" b="1" i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konfigurációk</a:t>
            </a:r>
            <a:endParaRPr lang="hu-HU" b="1" i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Tesztelés és </a:t>
            </a:r>
            <a:r>
              <a:rPr lang="hu-HU" dirty="0">
                <a:latin typeface="Calibri"/>
                <a:ea typeface="Calibri"/>
                <a:cs typeface="Calibri"/>
              </a:rPr>
              <a:t>bugfixing</a:t>
            </a:r>
            <a:endParaRPr lang="hu-HU" b="1" i="1">
              <a:latin typeface="Calibri"/>
              <a:ea typeface="Calibri"/>
              <a:cs typeface="Calibri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13A0E5C-39D4-E369-34BA-6933F901146E}"/>
              </a:ext>
            </a:extLst>
          </p:cNvPr>
          <p:cNvSpPr txBox="1"/>
          <p:nvPr/>
        </p:nvSpPr>
        <p:spPr>
          <a:xfrm>
            <a:off x="7482416" y="2645833"/>
            <a:ext cx="428625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 i="1">
                <a:latin typeface="Calibri"/>
                <a:ea typeface="Calibri"/>
                <a:cs typeface="Calibri"/>
              </a:rPr>
              <a:t>Batsukh Temuujin: </a:t>
            </a:r>
          </a:p>
          <a:p>
            <a:pPr marL="285750" indent="-285750">
              <a:buFont typeface="Arial"/>
              <a:buChar char="•"/>
            </a:pPr>
            <a:r>
              <a:rPr lang="hu-HU" dirty="0">
                <a:latin typeface="Calibri"/>
                <a:ea typeface="Calibri"/>
                <a:cs typeface="Calibri"/>
              </a:rPr>
              <a:t>REST API fejlesztés </a:t>
            </a:r>
          </a:p>
          <a:p>
            <a:pPr marL="285750" indent="-285750">
              <a:buFont typeface="Arial"/>
              <a:buChar char="•"/>
            </a:pPr>
            <a:r>
              <a:rPr lang="hu-HU" dirty="0">
                <a:latin typeface="Calibri"/>
                <a:ea typeface="Calibri"/>
                <a:cs typeface="Calibri"/>
              </a:rPr>
              <a:t> Admin felület </a:t>
            </a:r>
          </a:p>
          <a:p>
            <a:pPr marL="285750" indent="-285750">
              <a:buFont typeface="Arial"/>
              <a:buChar char="•"/>
            </a:pPr>
            <a:r>
              <a:rPr lang="hu-HU" dirty="0">
                <a:latin typeface="Calibri"/>
                <a:ea typeface="Calibri"/>
                <a:cs typeface="Calibri"/>
              </a:rPr>
              <a:t>Tesztelés és bugfixing </a:t>
            </a: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 Git</a:t>
            </a:r>
            <a:endParaRPr lang="hu-HU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>
                <a:latin typeface="Calibri"/>
                <a:ea typeface="Calibri"/>
                <a:cs typeface="Calibri"/>
              </a:rPr>
              <a:t> konfigurációk</a:t>
            </a:r>
          </a:p>
        </p:txBody>
      </p:sp>
    </p:spTree>
    <p:extLst>
      <p:ext uri="{BB962C8B-B14F-4D97-AF65-F5344CB8AC3E}">
        <p14:creationId xmlns:p14="http://schemas.microsoft.com/office/powerpoint/2010/main" val="1875086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76A1-4BD5-19A6-DDB2-60EF7ECC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EEFA43F1-C0BC-737D-2CD8-484650DD2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EE66B984-8D8F-E3C6-30B9-7478B23222D3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684BA71-79E0-F9EA-E2FD-F4B643A67646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2E6CCA2B-3F7B-BCEF-83D5-FB92B636E0EB}"/>
              </a:ext>
            </a:extLst>
          </p:cNvPr>
          <p:cNvSpPr/>
          <p:nvPr/>
        </p:nvSpPr>
        <p:spPr>
          <a:xfrm>
            <a:off x="3535864" y="924363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2800" cap="all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Publikálás 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46B9B24-4673-EB69-9B22-F00B35930AAA}"/>
              </a:ext>
            </a:extLst>
          </p:cNvPr>
          <p:cNvSpPr txBox="1"/>
          <p:nvPr/>
        </p:nvSpPr>
        <p:spPr>
          <a:xfrm>
            <a:off x="1238249" y="2645833"/>
            <a:ext cx="55350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hu-HU" sz="2400" b="1">
                <a:latin typeface="Calibri"/>
                <a:ea typeface="Calibri"/>
                <a:cs typeface="Calibri"/>
              </a:rPr>
              <a:t>Internet Information Services (IIS)</a:t>
            </a:r>
            <a:endParaRPr lang="hu-HU"/>
          </a:p>
        </p:txBody>
      </p:sp>
      <p:pic>
        <p:nvPicPr>
          <p:cNvPr id="7" name="Kép 6" descr="A képen Grafika, tervezés, embléma, tipográfia látható&#10;&#10;Lehet, hogy az AI által létrehozott tartalom helytelen.">
            <a:extLst>
              <a:ext uri="{FF2B5EF4-FFF2-40B4-BE49-F238E27FC236}">
                <a16:creationId xmlns:a16="http://schemas.microsoft.com/office/drawing/2014/main" id="{BD539134-ABA1-95E6-4304-BC752B084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16" y="2536571"/>
            <a:ext cx="4212167" cy="232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27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B218-AA36-8BC2-F127-7AF1F2FA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6B312FEB-D485-6A00-877E-44DC9F9A4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7D9C6EDF-06EC-FA58-91C4-6DAC46106B88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05BB16F-1FEB-89DE-C7C3-FCD3788B40F8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BE495B20-22E7-733D-6D4F-DFBFF1A556F5}"/>
              </a:ext>
            </a:extLst>
          </p:cNvPr>
          <p:cNvSpPr/>
          <p:nvPr/>
        </p:nvSpPr>
        <p:spPr>
          <a:xfrm>
            <a:off x="3535864" y="924363"/>
            <a:ext cx="409575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2800" cap="all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Fejlesztési lehetőség</a:t>
            </a:r>
            <a:endParaRPr lang="hu-HU" sz="2800" cap="all" dirty="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226FC01-879E-F4A6-2FEA-3F400450EB00}"/>
              </a:ext>
            </a:extLst>
          </p:cNvPr>
          <p:cNvSpPr txBox="1"/>
          <p:nvPr/>
        </p:nvSpPr>
        <p:spPr>
          <a:xfrm>
            <a:off x="1869440" y="283464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A709650-517C-9608-D17C-BA3A838EB599}"/>
              </a:ext>
            </a:extLst>
          </p:cNvPr>
          <p:cNvSpPr txBox="1"/>
          <p:nvPr/>
        </p:nvSpPr>
        <p:spPr>
          <a:xfrm>
            <a:off x="4114800" y="3017520"/>
            <a:ext cx="3393440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E-mail értesítési </a:t>
            </a:r>
            <a:r>
              <a:rPr lang="hu-HU" b="1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rendszer</a:t>
            </a:r>
            <a:endParaRPr lang="hu-HU" b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Mobilalkalmazás </a:t>
            </a:r>
            <a:endParaRPr lang="hu-HU" b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Keresési és szűrési funkciók bővítése</a:t>
            </a:r>
            <a:endParaRPr lang="hu-HU" b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Profil szerkeztése</a:t>
            </a:r>
            <a:endParaRPr lang="hu-HU" b="1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Magánszemélyként való feltöltés</a:t>
            </a:r>
            <a:endParaRPr lang="hu-HU" b="1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endParaRPr lang="hu-HU" sz="1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endParaRPr lang="hu-HU" sz="1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4307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7F0E7-7669-617F-98D4-9220D3D9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Intézmény logo">
            <a:extLst>
              <a:ext uri="{FF2B5EF4-FFF2-40B4-BE49-F238E27FC236}">
                <a16:creationId xmlns:a16="http://schemas.microsoft.com/office/drawing/2014/main" id="{349052CA-0D23-8A5F-AFF9-88BC93E71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" y="3865"/>
            <a:ext cx="808464" cy="1014463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38C9702A-A60D-7032-A7CF-D54DA002D3D7}"/>
              </a:ext>
            </a:extLst>
          </p:cNvPr>
          <p:cNvSpPr txBox="1"/>
          <p:nvPr/>
        </p:nvSpPr>
        <p:spPr>
          <a:xfrm>
            <a:off x="2965914" y="210376"/>
            <a:ext cx="74267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112338"/>
                </a:solidFill>
                <a:highlight>
                  <a:srgbClr val="FFFFFF"/>
                </a:highlight>
                <a:ea typeface="+mn-lt"/>
                <a:cs typeface="+mn-lt"/>
              </a:rPr>
              <a:t>BGSC Ganz Ábrahám Két Tanítási Nyelvű Technikum</a:t>
            </a:r>
            <a:endParaRPr lang="hu-HU" sz="200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0142DC20-B1E8-84AF-F64D-E5EDA8919A67}"/>
              </a:ext>
            </a:extLst>
          </p:cNvPr>
          <p:cNvSpPr txBox="1"/>
          <p:nvPr/>
        </p:nvSpPr>
        <p:spPr>
          <a:xfrm>
            <a:off x="4201583" y="6402916"/>
            <a:ext cx="7569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000" b="1"/>
              <a:t>NagypapaHázai - Kania Áron Nontawat Bota Csongor </a:t>
            </a:r>
            <a:r>
              <a:rPr lang="hu-HU" sz="1000" b="1">
                <a:ea typeface="+mn-lt"/>
                <a:cs typeface="+mn-lt"/>
              </a:rPr>
              <a:t>Batsukh Temuujin</a:t>
            </a:r>
            <a:endParaRPr lang="hu-HU" sz="1000" b="1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28570B97-04DB-4563-CD19-1833AE9CDA2C}"/>
              </a:ext>
            </a:extLst>
          </p:cNvPr>
          <p:cNvSpPr/>
          <p:nvPr/>
        </p:nvSpPr>
        <p:spPr>
          <a:xfrm>
            <a:off x="162744" y="924363"/>
            <a:ext cx="11847831" cy="1301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2800" cap="all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Köszönjük a figyelmet </a:t>
            </a:r>
            <a:endParaRPr lang="hu-HU" sz="2800" cap="all" dirty="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FDA7A00-C9CC-BCF2-44D2-E1B41EC0ECD0}"/>
              </a:ext>
            </a:extLst>
          </p:cNvPr>
          <p:cNvSpPr txBox="1"/>
          <p:nvPr/>
        </p:nvSpPr>
        <p:spPr>
          <a:xfrm>
            <a:off x="1869440" y="283464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5910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6" baseType="lpstr">
      <vt:lpstr>Office-téma</vt:lpstr>
      <vt:lpstr>Nagypapa Házai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513</cp:revision>
  <dcterms:created xsi:type="dcterms:W3CDTF">2026-04-16T12:35:45Z</dcterms:created>
  <dcterms:modified xsi:type="dcterms:W3CDTF">2026-04-17T19:01:38Z</dcterms:modified>
</cp:coreProperties>
</file>